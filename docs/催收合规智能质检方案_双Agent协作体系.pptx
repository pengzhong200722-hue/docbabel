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88552" y="0"/>
            <a:ext cx="3200400" cy="3771900"/>
          </a:xfrm>
          <a:prstGeom prst="rect">
            <a:avLst/>
          </a:prstGeom>
          <a:solidFill>
            <a:srgbClr val="06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02952" y="0"/>
            <a:ext cx="2286000" cy="3086100"/>
          </a:xfrm>
          <a:prstGeom prst="rect">
            <a:avLst/>
          </a:prstGeom>
          <a:solidFill>
            <a:srgbClr val="081C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73152" cy="3200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YaHei"/>
              </a:rPr>
              <a:t>催收合规智能质检方案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E5FF"/>
                </a:solidFill>
                <a:latin typeface="Microsoft YaHei"/>
              </a:rPr>
              <a:t>双Agent协作体系  ·  智能质检官  ×  制度答疑官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57600"/>
            <a:ext cx="6400800" cy="36576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  <a:latin typeface="Microsoft YaHei"/>
              </a:rPr>
              <a:t>AI驱动 · 全渠道覆盖 · 三层引擎 · 实时联动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目 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94960" cy="594360"/>
          </a:xfrm>
          <a:prstGeom prst="rect">
            <a:avLst/>
          </a:prstGeom>
          <a:solidFill>
            <a:srgbClr val="0B183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09728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当前痛点分析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394960" cy="594360"/>
          </a:xfrm>
          <a:prstGeom prst="rect">
            <a:avLst/>
          </a:prstGeom>
          <a:solidFill>
            <a:srgbClr val="0B183A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005840"/>
            <a:ext cx="502920" cy="59436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005840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09728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整体架构：双Agent协作体系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19072"/>
            <a:ext cx="5394960" cy="594360"/>
          </a:xfrm>
          <a:prstGeom prst="rect">
            <a:avLst/>
          </a:prstGeom>
          <a:solidFill>
            <a:srgbClr val="0B183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19072"/>
            <a:ext cx="502920" cy="594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71907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181051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Agent 1：智能质检官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719072"/>
            <a:ext cx="5394960" cy="594360"/>
          </a:xfrm>
          <a:prstGeom prst="rect">
            <a:avLst/>
          </a:prstGeom>
          <a:solidFill>
            <a:srgbClr val="0B183A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719072"/>
            <a:ext cx="502920" cy="59436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71907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810512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Agent 2：制度答疑官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32304"/>
            <a:ext cx="5394960" cy="594360"/>
          </a:xfrm>
          <a:prstGeom prst="rect">
            <a:avLst/>
          </a:prstGeom>
          <a:solidFill>
            <a:srgbClr val="0B183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432304"/>
            <a:ext cx="502920" cy="594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432304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523744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双Agent协作机制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432304"/>
            <a:ext cx="5394960" cy="594360"/>
          </a:xfrm>
          <a:prstGeom prst="rect">
            <a:avLst/>
          </a:prstGeom>
          <a:solidFill>
            <a:srgbClr val="0B183A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2432304"/>
            <a:ext cx="502920" cy="59436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432304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523744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技术选型建议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145536"/>
            <a:ext cx="5394960" cy="594360"/>
          </a:xfrm>
          <a:prstGeom prst="rect">
            <a:avLst/>
          </a:prstGeom>
          <a:solidFill>
            <a:srgbClr val="0B183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145536"/>
            <a:ext cx="502920" cy="5943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145536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3236976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实施路线图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145536"/>
            <a:ext cx="5394960" cy="594360"/>
          </a:xfrm>
          <a:prstGeom prst="rect">
            <a:avLst/>
          </a:prstGeom>
          <a:solidFill>
            <a:srgbClr val="0B183A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3145536"/>
            <a:ext cx="502920" cy="59436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145536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236976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YaHei"/>
              </a:rPr>
              <a:t>预期收益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0" b="1">
                <a:solidFill>
                  <a:srgbClr val="0D1F4E"/>
                </a:solidFill>
                <a:latin typeface="Arial Black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383280"/>
            <a:ext cx="32004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6952" y="3383280"/>
            <a:ext cx="32004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YaHei"/>
              </a:rPr>
              <a:t>当前痛点分析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当前痛点分析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05840"/>
          <a:ext cx="106070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920240"/>
                <a:gridCol w="4114800"/>
                <a:gridCol w="4023360"/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痛点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现状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影响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质检覆盖率低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仅覆盖语音通话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文字/微信催收未纳入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大量合规风险盲区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模型准确率低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仅40%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严重依赖人工复核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人力成本高、效率低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合规知识断层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员工不知违规原因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知识靠口口相传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违规反复发生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扣罚争议多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349240"/>
            <a:ext cx="3474720" cy="1051560"/>
          </a:xfrm>
          <a:prstGeom prst="rect">
            <a:avLst/>
          </a:prstGeom>
          <a:solidFill>
            <a:srgbClr val="1A0606"/>
          </a:solidFill>
          <a:ln w="1524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3949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545"/>
                </a:solidFill>
                <a:latin typeface="Microsoft YaHei"/>
              </a:rPr>
              <a:t>覆盖盲区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Microsoft YaHei"/>
              </a:rPr>
              <a:t>仅语音通话
文字/微信游离在外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5349240"/>
            <a:ext cx="3474720" cy="1051560"/>
          </a:xfrm>
          <a:prstGeom prst="rect">
            <a:avLst/>
          </a:prstGeom>
          <a:solidFill>
            <a:srgbClr val="1A0606"/>
          </a:solidFill>
          <a:ln w="1524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53949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545"/>
                </a:solidFill>
                <a:latin typeface="Microsoft YaHei"/>
              </a:rPr>
              <a:t>准确率低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Microsoft YaHei"/>
              </a:rPr>
              <a:t>当前仅40%
大量误报漏报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5349240"/>
            <a:ext cx="3474720" cy="1051560"/>
          </a:xfrm>
          <a:prstGeom prst="rect">
            <a:avLst/>
          </a:prstGeom>
          <a:solidFill>
            <a:srgbClr val="1A0606"/>
          </a:solidFill>
          <a:ln w="1524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53949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545"/>
                </a:solidFill>
                <a:latin typeface="Microsoft YaHei"/>
              </a:rPr>
              <a:t>知识断层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Microsoft YaHei"/>
              </a:rPr>
              <a:t>员工不明违规
重复犯规无从改善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0" b="1">
                <a:solidFill>
                  <a:srgbClr val="0D1F4E"/>
                </a:solidFill>
                <a:latin typeface="Arial Black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383280"/>
            <a:ext cx="32004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6952" y="3383280"/>
            <a:ext cx="32004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YaHei"/>
              </a:rPr>
              <a:t>整体架构：双Agent协作体系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双Agent协作架构总览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029200" cy="5029200"/>
          </a:xfrm>
          <a:prstGeom prst="rect">
            <a:avLst/>
          </a:prstGeom>
          <a:solidFill>
            <a:srgbClr val="041028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E5FF"/>
                </a:solidFill>
                <a:latin typeface="Microsoft YaHei"/>
              </a:rPr>
              <a:t>Agent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智能质检官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11640312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Microsoft YaHei"/>
              </a:rPr>
              <a:t>▶  全渠道催收记录质检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0720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Microsoft YaHei"/>
              </a:rPr>
              <a:t>▶  语音 + 文字 + 微信全覆盖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65576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Microsoft YaHei"/>
              </a:rPr>
              <a:t>▶  三层质检引擎（规则 + NLP + LLM）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23944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Microsoft YaHei"/>
              </a:rPr>
              <a:t>▶  违规自动识别 &amp; 标注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8231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Microsoft YaHei"/>
              </a:rPr>
              <a:t>▶  质检报告自动生成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005840"/>
            <a:ext cx="5029200" cy="5029200"/>
          </a:xfrm>
          <a:prstGeom prst="rect">
            <a:avLst/>
          </a:prstGeom>
          <a:solidFill>
            <a:srgbClr val="041028"/>
          </a:solidFill>
          <a:ln w="2540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10972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8BFF"/>
                </a:solidFill>
                <a:latin typeface="Microsoft YaHei"/>
              </a:rPr>
              <a:t>Agent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417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制度答疑官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011680"/>
            <a:ext cx="11640312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1488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Microsoft YaHei"/>
              </a:rPr>
              <a:t>▶  合规制度知识库（RAG）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80720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Microsoft YaHei"/>
              </a:rPr>
              <a:t>▶  智能问答 &amp; 条款引用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465576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Microsoft YaHei"/>
              </a:rPr>
              <a:t>▶  违规原因即时解读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123944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Microsoft YaHei"/>
              </a:rPr>
              <a:t>▶  扣罚依据查询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  <a:latin typeface="Microsoft YaHei"/>
              </a:rPr>
              <a:t>▶  合规培训主动推送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40680" y="3383280"/>
            <a:ext cx="1417320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40680" y="3749040"/>
            <a:ext cx="141732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297180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  <a:latin typeface="Microsoft YaHei"/>
              </a:rPr>
              <a:t>双向
协作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0" b="1">
                <a:solidFill>
                  <a:srgbClr val="0D1F4E"/>
                </a:solidFill>
                <a:latin typeface="Arial Black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383280"/>
            <a:ext cx="32004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6952" y="3383280"/>
            <a:ext cx="32004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YaHei"/>
              </a:rPr>
              <a:t>Agent 1：智能质检官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智能质检官 — 全渠道数据接入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0584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576072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渠道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数据来源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处理方式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语音通话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录音文件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ASR语音转文字 → 统一文本格式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文字催收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短信 / 站内信记录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直接文本接入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微信催收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企业微信会话存档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企业微信API → 统一文本格式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114800"/>
            <a:ext cx="2286000" cy="1097280"/>
          </a:xfrm>
          <a:prstGeom prst="rect">
            <a:avLst/>
          </a:prstGeom>
          <a:solidFill>
            <a:srgbClr val="0B183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E5FF"/>
                </a:solidFill>
                <a:latin typeface="Microsoft YaHei"/>
              </a:rPr>
              <a:t>语音通话
ASR转写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434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E5FF"/>
                </a:solidFill>
                <a:latin typeface="Microsoft YaHe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4114800"/>
            <a:ext cx="2286000" cy="1097280"/>
          </a:xfrm>
          <a:prstGeom prst="rect">
            <a:avLst/>
          </a:prstGeom>
          <a:solidFill>
            <a:srgbClr val="0B183A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42519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8BFF"/>
                </a:solidFill>
                <a:latin typeface="Microsoft YaHei"/>
              </a:rPr>
              <a:t>文字催收
直接接入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4434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E5FF"/>
                </a:solidFill>
                <a:latin typeface="Microsoft Ya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114800"/>
            <a:ext cx="2286000" cy="1097280"/>
          </a:xfrm>
          <a:prstGeom prst="rect">
            <a:avLst/>
          </a:prstGeom>
          <a:solidFill>
            <a:srgbClr val="0B183A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2519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B2FFF"/>
                </a:solidFill>
                <a:latin typeface="Microsoft YaHei"/>
              </a:rPr>
              <a:t>微信催收
API存档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434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  <a:latin typeface="Microsoft Ya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4114800"/>
            <a:ext cx="3017520" cy="1097280"/>
          </a:xfrm>
          <a:prstGeom prst="rect">
            <a:avLst/>
          </a:prstGeom>
          <a:solidFill>
            <a:srgbClr val="041A0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420624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  <a:latin typeface="Microsoft YaHei"/>
              </a:rPr>
              <a:t>统一文本队列
→ 三层质检引擎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智能质检官 — 三层质检引擎（核心）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D700"/>
                </a:solidFill>
                <a:latin typeface="Microsoft YaHei"/>
              </a:rPr>
              <a:t>从40%到85%+ 准确率的关键：三层协同而非单一模型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1457432" cy="1600200"/>
          </a:xfrm>
          <a:prstGeom prst="rect">
            <a:avLst/>
          </a:prstGeom>
          <a:solidFill>
            <a:srgbClr val="0B183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137160" cy="1600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FF"/>
                </a:solidFill>
                <a:latin typeface="Microsoft YaHei"/>
              </a:rPr>
              <a:t>第一层：规则引擎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325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Microsoft YaHei"/>
              </a:rPr>
              <a:t>准确率 99%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09087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Microsoft YaHei"/>
              </a:rPr>
              <a:t>关键词/正则匹配：辱骂词库、敏感词、禁用语  |  时间规则：非法催收时段（21:00-8:00）  |  频次规则：单日联系次数超限  |  硬性违规快速拦截，毫秒级响应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99232"/>
            <a:ext cx="11457432" cy="1600200"/>
          </a:xfrm>
          <a:prstGeom prst="rect">
            <a:avLst/>
          </a:prstGeom>
          <a:solidFill>
            <a:srgbClr val="0B183A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99232"/>
            <a:ext cx="137160" cy="16002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906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BFF"/>
                </a:solidFill>
                <a:latin typeface="Microsoft YaHei"/>
              </a:rPr>
              <a:t>第二层：NLP分类模型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090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Microsoft YaHei"/>
              </a:rPr>
              <a:t>准确率目标 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109087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Microsoft YaHei"/>
              </a:rPr>
              <a:t>意图分类：威胁、恐吓、骚扰、诱导等  |  情绪检测：催收员情绪失控/语气过激  |  话术合规度评分：偏离标准模板的程度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64024"/>
            <a:ext cx="11457432" cy="1600200"/>
          </a:xfrm>
          <a:prstGeom prst="rect">
            <a:avLst/>
          </a:prstGeom>
          <a:solidFill>
            <a:srgbClr val="0B183A"/>
          </a:solidFill>
          <a:ln w="1524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764024"/>
            <a:ext cx="137160" cy="16002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554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B2FFF"/>
                </a:solidFill>
                <a:latin typeface="Microsoft YaHei"/>
              </a:rPr>
              <a:t>第三层：LLM推理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85546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  <a:latin typeface="Microsoft YaHei"/>
              </a:rPr>
              <a:t>复杂场景深度分析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12664"/>
            <a:ext cx="1090879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Microsoft YaHei"/>
              </a:rPr>
              <a:t>语境理解：暗示性违规、多轮对话逻辑  |  推理依据输出：可解释结果  |  灰色地带最终裁决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智能质检官 — 三层协同质检流程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194560" cy="822960"/>
          </a:xfrm>
          <a:prstGeom prst="rect">
            <a:avLst/>
          </a:prstGeom>
          <a:solidFill>
            <a:srgbClr val="0B183A"/>
          </a:solidFill>
          <a:ln w="1524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  <a:latin typeface="Microsoft YaHei"/>
              </a:rPr>
              <a:t>催收记录输入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20240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FF"/>
                </a:solidFill>
                <a:latin typeface="Microsoft YaHe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2194560" cy="822960"/>
          </a:xfrm>
          <a:prstGeom prst="rect">
            <a:avLst/>
          </a:prstGeom>
          <a:solidFill>
            <a:srgbClr val="0B183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icrosoft YaHei"/>
              </a:rPr>
              <a:t>第一层：规则引擎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34640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FF"/>
                </a:solidFill>
                <a:latin typeface="Microsoft YaHei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488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   →  命中 → 直接标记违规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2194560" cy="822960"/>
          </a:xfrm>
          <a:prstGeom prst="rect">
            <a:avLst/>
          </a:prstGeom>
          <a:solidFill>
            <a:srgbClr val="0B183A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FF"/>
                </a:solidFill>
                <a:latin typeface="Microsoft YaHei"/>
              </a:rPr>
              <a:t>第二层：NLP模型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49040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FF"/>
                </a:solidFill>
                <a:latin typeface="Microsoft YaHei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0632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   →  置信度 &gt; 阈值 → 标记违规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2194560" cy="822960"/>
          </a:xfrm>
          <a:prstGeom prst="rect">
            <a:avLst/>
          </a:prstGeom>
          <a:solidFill>
            <a:srgbClr val="0B183A"/>
          </a:solidFill>
          <a:ln w="1524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9319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F"/>
                </a:solidFill>
                <a:latin typeface="Microsoft YaHei"/>
              </a:rPr>
              <a:t>第三层：LLM推理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663440"/>
            <a:ext cx="640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FF"/>
                </a:solidFill>
                <a:latin typeface="Microsoft YaHei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9776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   →  输出最终判定 + 推理依据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2194560" cy="822960"/>
          </a:xfrm>
          <a:prstGeom prst="rect">
            <a:avLst/>
          </a:prstGeom>
          <a:solidFill>
            <a:srgbClr val="041A0A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46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Microsoft YaHei"/>
              </a:rPr>
              <a:t>输出质检报告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8920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   →  违规详情 + 证据链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94960"/>
            <a:ext cx="11457432" cy="502920"/>
          </a:xfrm>
          <a:prstGeom prst="rect">
            <a:avLst/>
          </a:prstGeom>
          <a:solidFill>
            <a:srgbClr val="041A0A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58968"/>
            <a:ext cx="11091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700"/>
                </a:solidFill>
                <a:latin typeface="Microsoft YaHei"/>
              </a:rPr>
              <a:t>优势：硬性违规快速拦截   ·   模糊场景深度分析   ·   成本可控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智能质检官 — 关键指标目标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05840"/>
          <a:ext cx="112745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当前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3个月目标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6个月目标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渠道覆盖率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仅语音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语音+文字+微信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全渠道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整体准确率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40%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75%+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85%+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人工复核比例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~60%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&lt;30%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&lt;15%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质检覆盖率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&lt;20%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60%+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90%+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572000"/>
            <a:ext cx="3474720" cy="1188720"/>
          </a:xfrm>
          <a:prstGeom prst="rect">
            <a:avLst/>
          </a:prstGeom>
          <a:solidFill>
            <a:srgbClr val="0B18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5FF"/>
                </a:solidFill>
                <a:latin typeface="Microsoft YaHei"/>
              </a:rPr>
              <a:t>85%+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  <a:latin typeface="Microsoft YaHei"/>
              </a:rPr>
              <a:t>6个月准确率目标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4572000"/>
            <a:ext cx="3474720" cy="1188720"/>
          </a:xfrm>
          <a:prstGeom prst="rect">
            <a:avLst/>
          </a:prstGeom>
          <a:solidFill>
            <a:srgbClr val="0B183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617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700"/>
                </a:solidFill>
                <a:latin typeface="Microsoft YaHei"/>
              </a:rPr>
              <a:t>90%+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257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  <a:latin typeface="Microsoft YaHei"/>
              </a:rPr>
              <a:t>质检覆盖率目标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4572000"/>
            <a:ext cx="3474720" cy="1188720"/>
          </a:xfrm>
          <a:prstGeom prst="rect">
            <a:avLst/>
          </a:prstGeom>
          <a:solidFill>
            <a:srgbClr val="0B183A"/>
          </a:solidFill>
          <a:ln w="2540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617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8BFF"/>
                </a:solidFill>
                <a:latin typeface="Microsoft YaHei"/>
              </a:rPr>
              <a:t>&lt;15%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257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  <a:latin typeface="Microsoft YaHei"/>
              </a:rPr>
              <a:t>人工复核比例目标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0" b="1">
                <a:solidFill>
                  <a:srgbClr val="0D1F4E"/>
                </a:solidFill>
                <a:latin typeface="Arial Black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383280"/>
            <a:ext cx="32004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6952" y="3383280"/>
            <a:ext cx="32004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YaHei"/>
              </a:rPr>
              <a:t>Agent 2：制度答疑官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制度答疑官 — 合规知识库建设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303520" cy="5120640"/>
          </a:xfrm>
          <a:prstGeom prst="rect">
            <a:avLst/>
          </a:prstGeom>
          <a:solidFill>
            <a:srgbClr val="0B183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FF"/>
                </a:solidFill>
                <a:latin typeface="Microsoft YaHei"/>
              </a:rPr>
              <a:t>知识来源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•  催收行为规范 / 催收管理制度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04288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•  监管政策（银保监相关规定）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62656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•  公司内部合规红线清单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21024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•  历史违规案例及处罚决定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79392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•  合规FAQ + 话术模板库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005840"/>
            <a:ext cx="5943600" cy="5120640"/>
          </a:xfrm>
          <a:prstGeom prst="rect">
            <a:avLst/>
          </a:prstGeom>
          <a:solidFill>
            <a:srgbClr val="0B183A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BFF"/>
                </a:solidFill>
                <a:latin typeface="Microsoft YaHei"/>
              </a:rPr>
              <a:t>知识处理流程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737360"/>
            <a:ext cx="73152" cy="27432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691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原始文档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9933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E5FF"/>
                </a:solidFill>
                <a:latin typeface="Microsoft YaHei"/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404872"/>
            <a:ext cx="73152" cy="274320"/>
          </a:xfrm>
          <a:prstGeom prst="rect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3591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文档解析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66090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E5FF"/>
                </a:solidFill>
                <a:latin typeface="Microsoft YaHe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072384"/>
            <a:ext cx="73152" cy="274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0266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E5FF"/>
                </a:solidFill>
                <a:latin typeface="Microsoft YaHei"/>
              </a:rPr>
              <a:t>分段切片 Chunking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3284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E5FF"/>
                </a:solidFill>
                <a:latin typeface="Microsoft YaHei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739896"/>
            <a:ext cx="73152" cy="274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6941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E5FF"/>
                </a:solidFill>
                <a:latin typeface="Microsoft YaHei"/>
              </a:rPr>
              <a:t>向量化 Embedding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9959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E5FF"/>
                </a:solidFill>
                <a:latin typeface="Microsoft YaHei"/>
              </a:rPr>
              <a:t>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407408"/>
            <a:ext cx="73152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3616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  <a:latin typeface="Microsoft YaHei"/>
              </a:rPr>
              <a:t>向量数据库存储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6634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E5FF"/>
                </a:solidFill>
                <a:latin typeface="Microsoft YaHei"/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5074920"/>
            <a:ext cx="73152" cy="274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5029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700"/>
                </a:solidFill>
                <a:latin typeface="Microsoft YaHei"/>
              </a:rPr>
              <a:t>结构化索引建立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制度答疑官 — RAG智能问答引擎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200400" cy="685800"/>
          </a:xfrm>
          <a:prstGeom prst="rect">
            <a:avLst/>
          </a:prstGeom>
          <a:solidFill>
            <a:srgbClr val="0B183A"/>
          </a:solidFill>
          <a:ln w="1524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C4DE"/>
                </a:solidFill>
                <a:latin typeface="Microsoft YaHei"/>
              </a:rPr>
              <a:t>员工提问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83080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FF"/>
                </a:solidFill>
                <a:latin typeface="Microsoft YaHe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3200400" cy="685800"/>
          </a:xfrm>
          <a:prstGeom prst="rect">
            <a:avLst/>
          </a:prstGeom>
          <a:solidFill>
            <a:srgbClr val="0B183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5FF"/>
                </a:solidFill>
                <a:latin typeface="Microsoft YaHei"/>
              </a:rPr>
              <a:t>意图识别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06040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FF"/>
                </a:solidFill>
                <a:latin typeface="Microsoft YaHei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02996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   →  区分制度查询 / 扣罚查询 / 申诉指引等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43200"/>
            <a:ext cx="3200400" cy="685800"/>
          </a:xfrm>
          <a:prstGeom prst="rect">
            <a:avLst/>
          </a:prstGeom>
          <a:solidFill>
            <a:srgbClr val="0B183A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FF"/>
                </a:solidFill>
                <a:latin typeface="Microsoft YaHei"/>
              </a:rPr>
              <a:t>知识检索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29000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FF"/>
                </a:solidFill>
                <a:latin typeface="Microsoft YaHei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85292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   →  向量检索 + 关键词检索  混合召回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3200400" cy="685800"/>
          </a:xfrm>
          <a:prstGeom prst="rect">
            <a:avLst/>
          </a:prstGeom>
          <a:solidFill>
            <a:srgbClr val="0B183A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576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FF"/>
                </a:solidFill>
                <a:latin typeface="Microsoft YaHei"/>
              </a:rPr>
              <a:t>上下文组装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51960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FF"/>
                </a:solidFill>
                <a:latin typeface="Microsoft YaHei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67588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   →  相关条款 + 相关案例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89120"/>
            <a:ext cx="3200400" cy="685800"/>
          </a:xfrm>
          <a:prstGeom prst="rect">
            <a:avLst/>
          </a:prstGeom>
          <a:solidFill>
            <a:srgbClr val="0B183A"/>
          </a:solidFill>
          <a:ln w="1524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F"/>
                </a:solidFill>
                <a:latin typeface="Microsoft YaHei"/>
              </a:rPr>
              <a:t>LLM生成回答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074920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5FF"/>
                </a:solidFill>
                <a:latin typeface="Microsoft YaHei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4988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  <a:latin typeface="Microsoft YaHei"/>
              </a:rPr>
              <a:t>   →  带条款编号引用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3200400" cy="685800"/>
          </a:xfrm>
          <a:prstGeom prst="rect">
            <a:avLst/>
          </a:prstGeom>
          <a:solidFill>
            <a:srgbClr val="041A0A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3035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  <a:latin typeface="Microsoft YaHei"/>
              </a:rPr>
              <a:t>输出：答案 + 制度依据 + 相关案例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制度答疑官 — 主动推送 &amp; 扣罚解读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303520" cy="5212080"/>
          </a:xfrm>
          <a:prstGeom prst="rect">
            <a:avLst/>
          </a:prstGeom>
          <a:solidFill>
            <a:srgbClr val="0B183A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FF"/>
                </a:solidFill>
                <a:latin typeface="Microsoft YaHei"/>
              </a:rPr>
              <a:t>主动推送能力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Microsoft YaHei"/>
              </a:rPr>
              <a:t>违规后即时推送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Microsoft YaHei"/>
              </a:rPr>
              <a:t>质检官发现违规 → 自动推送合规知识卡片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Microsoft YaHei"/>
              </a:rPr>
              <a:t>制度更新推送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Microsoft YaHei"/>
              </a:rPr>
              <a:t>制度变更时推送变更摘要 + 重点解读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Microsoft YaHei"/>
              </a:rPr>
              <a:t>定期合规小测验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Microsoft YaHei"/>
              </a:rPr>
              <a:t>基于高频违规点自动生成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005840"/>
            <a:ext cx="5943600" cy="5212080"/>
          </a:xfrm>
          <a:prstGeom prst="rect">
            <a:avLst/>
          </a:prstGeom>
          <a:solidFill>
            <a:srgbClr val="0B183A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097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BFF"/>
                </a:solidFill>
                <a:latin typeface="Microsoft YaHei"/>
              </a:rPr>
              <a:t>扣罚解读功能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645920"/>
            <a:ext cx="5577840" cy="804672"/>
          </a:xfrm>
          <a:prstGeom prst="rect">
            <a:avLst/>
          </a:prstGeom>
          <a:solidFill>
            <a:srgbClr val="081C40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691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FF"/>
                </a:solidFill>
                <a:latin typeface="Microsoft YaHei"/>
              </a:rPr>
              <a:t>违规行为描述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6916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Microsoft YaHei"/>
              </a:rPr>
              <a:t>来源于质检官结果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651760"/>
            <a:ext cx="5577840" cy="804672"/>
          </a:xfrm>
          <a:prstGeom prst="rect">
            <a:avLst/>
          </a:prstGeom>
          <a:solidFill>
            <a:srgbClr val="081C40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697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FF"/>
                </a:solidFill>
                <a:latin typeface="Microsoft YaHei"/>
              </a:rPr>
              <a:t>对应制度条款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697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Microsoft YaHei"/>
              </a:rPr>
              <a:t>制度原文引用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657600"/>
            <a:ext cx="5577840" cy="804672"/>
          </a:xfrm>
          <a:prstGeom prst="rect">
            <a:avLst/>
          </a:prstGeom>
          <a:solidFill>
            <a:srgbClr val="081C40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703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FF"/>
                </a:solidFill>
                <a:latin typeface="Microsoft YaHei"/>
              </a:rPr>
              <a:t>扣罚标准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703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Microsoft YaHei"/>
              </a:rPr>
              <a:t>计算方式明确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663440"/>
            <a:ext cx="5577840" cy="804672"/>
          </a:xfrm>
          <a:prstGeom prst="rect">
            <a:avLst/>
          </a:prstGeom>
          <a:solidFill>
            <a:srgbClr val="081C40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709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BFF"/>
                </a:solidFill>
                <a:latin typeface="Microsoft YaHei"/>
              </a:rPr>
              <a:t>整改 &amp; 申诉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47091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  <a:latin typeface="Microsoft YaHei"/>
              </a:rPr>
              <a:t>流程指引清晰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0" b="1">
                <a:solidFill>
                  <a:srgbClr val="0D1F4E"/>
                </a:solidFill>
                <a:latin typeface="Arial Black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383280"/>
            <a:ext cx="32004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6952" y="3383280"/>
            <a:ext cx="32004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YaHei"/>
              </a:rPr>
              <a:t>双Agent协作机制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六大协作场景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05840"/>
          <a:ext cx="11457432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74458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场景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触发条件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智能质检官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制度答疑官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实时质检违规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发现违规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输出违规详情+证据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推送违规解读卡片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员工查询扣罚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员工主动查询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提供质检记录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生成完整扣罚解读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制度更新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管理员更新制度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更新质检规则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更新知识库+推送通知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高频违规预警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违规趋势分析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输出趋势报告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生成专项培训内容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</a:tr>
              <a:tr h="74458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员工申诉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员工有异议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提供证据链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提供申诉流程指引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  <a:tr h="7445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新人入职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入职培训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推送合规知识包+测验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双Agent协作数据流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092" y="1143000"/>
            <a:ext cx="2011680" cy="1051560"/>
          </a:xfrm>
          <a:prstGeom prst="rect">
            <a:avLst/>
          </a:prstGeom>
          <a:solidFill>
            <a:srgbClr val="0B183A"/>
          </a:solidFill>
          <a:ln w="1905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" y="1216152"/>
            <a:ext cx="186537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0C4DE"/>
                </a:solidFill>
                <a:latin typeface="Microsoft YaHei"/>
              </a:rPr>
              <a:t>催收记录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7772" y="1458468"/>
            <a:ext cx="164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  <a:latin typeface="Microsoft Ya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12364" y="1143000"/>
            <a:ext cx="2011680" cy="1051560"/>
          </a:xfrm>
          <a:prstGeom prst="rect">
            <a:avLst/>
          </a:prstGeom>
          <a:solidFill>
            <a:srgbClr val="0B183A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5516" y="1216152"/>
            <a:ext cx="186537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5FF"/>
                </a:solidFill>
                <a:latin typeface="Microsoft YaHei"/>
              </a:rPr>
              <a:t>智能质检官
三层引擎质检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4044" y="1458468"/>
            <a:ext cx="164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  <a:latin typeface="Microsoft Ya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8636" y="1143000"/>
            <a:ext cx="2011680" cy="1051560"/>
          </a:xfrm>
          <a:prstGeom prst="rect">
            <a:avLst/>
          </a:prstGeom>
          <a:solidFill>
            <a:srgbClr val="0B183A"/>
          </a:solidFill>
          <a:ln w="1905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1788" y="1216152"/>
            <a:ext cx="186537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BFF"/>
                </a:solidFill>
                <a:latin typeface="Microsoft YaHei"/>
              </a:rPr>
              <a:t>质检结果
违规事件通知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0316" y="1458468"/>
            <a:ext cx="164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  <a:latin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4908" y="1143000"/>
            <a:ext cx="2011680" cy="1051560"/>
          </a:xfrm>
          <a:prstGeom prst="rect">
            <a:avLst/>
          </a:prstGeom>
          <a:solidFill>
            <a:srgbClr val="0B183A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8060" y="1216152"/>
            <a:ext cx="186537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B2FFF"/>
                </a:solidFill>
                <a:latin typeface="Microsoft YaHei"/>
              </a:rPr>
              <a:t>制度答疑官
违规解读卡片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6588" y="1458468"/>
            <a:ext cx="164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E5FF"/>
                </a:solidFill>
                <a:latin typeface="Microsoft YaHe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1180" y="1143000"/>
            <a:ext cx="2011680" cy="1051560"/>
          </a:xfrm>
          <a:prstGeom prst="rect">
            <a:avLst/>
          </a:prstGeom>
          <a:solidFill>
            <a:srgbClr val="0B18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14332" y="1216152"/>
            <a:ext cx="1865376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Microsoft YaHei"/>
              </a:rPr>
              <a:t>主动推送员工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468880"/>
            <a:ext cx="11640312" cy="228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Microsoft YaHei"/>
              </a:rPr>
              <a:t>员工主动查询流程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017520"/>
            <a:ext cx="2560320" cy="1005840"/>
          </a:xfrm>
          <a:prstGeom prst="rect">
            <a:avLst/>
          </a:prstGeom>
          <a:solidFill>
            <a:srgbClr val="0B183A"/>
          </a:solidFill>
          <a:ln w="15240">
            <a:solidFill>
              <a:srgbClr val="B0C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089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0C4DE"/>
                </a:solidFill>
                <a:latin typeface="Microsoft YaHei"/>
              </a:rPr>
              <a:t>员工主动提问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31927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FF"/>
                </a:solidFill>
                <a:latin typeface="Microsoft Ya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017520"/>
            <a:ext cx="2560320" cy="1005840"/>
          </a:xfrm>
          <a:prstGeom prst="rect">
            <a:avLst/>
          </a:prstGeom>
          <a:solidFill>
            <a:srgbClr val="0B183A"/>
          </a:solidFill>
          <a:ln w="1524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1089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B2FFF"/>
                </a:solidFill>
                <a:latin typeface="Microsoft YaHei"/>
              </a:rPr>
              <a:t>制度答疑官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31927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FF"/>
                </a:solidFill>
                <a:latin typeface="Microsoft YaHe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017520"/>
            <a:ext cx="2560320" cy="1005840"/>
          </a:xfrm>
          <a:prstGeom prst="rect">
            <a:avLst/>
          </a:prstGeom>
          <a:solidFill>
            <a:srgbClr val="0B183A"/>
          </a:solidFill>
          <a:ln w="1524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1089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BFF"/>
                </a:solidFill>
                <a:latin typeface="Microsoft YaHei"/>
              </a:rPr>
              <a:t>调取质检记录
+ 制度条款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319272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E5FF"/>
                </a:solidFill>
                <a:latin typeface="Microsoft YaHe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3017520"/>
            <a:ext cx="2560320" cy="1005840"/>
          </a:xfrm>
          <a:prstGeom prst="rect">
            <a:avLst/>
          </a:prstGeom>
          <a:solidFill>
            <a:srgbClr val="0B183A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0" y="31089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Microsoft YaHei"/>
              </a:rPr>
              <a:t>针对性解答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2976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  <a:latin typeface="Microsoft YaHei"/>
              </a:rPr>
              <a:t>制度更新 → 答疑官更新知识库 → 质检官同步更新规则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0" b="1">
                <a:solidFill>
                  <a:srgbClr val="0D1F4E"/>
                </a:solidFill>
                <a:latin typeface="Arial Black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383280"/>
            <a:ext cx="32004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6952" y="3383280"/>
            <a:ext cx="32004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YaHei"/>
              </a:rPr>
              <a:t>技术选型建议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技术选型建议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05840"/>
          <a:ext cx="117043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  <a:gridCol w="6217920"/>
              </a:tblGrid>
              <a:tr h="5892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推荐方案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语音转文字 ASR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阿里云 / 讯飞 / Whisper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将语音录音转为可质检文本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规则引擎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自建(Python/Java)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支持热更新，处理硬性违规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NLP分类模型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BERT / RoBERTa微调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催收领域Fine-tuning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LLM大模型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GPT-4 / 通义千问 / DeepSeek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复杂场景推理 + RAG问答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向量数据库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Milvus / Weaviate / PGVector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存储制度文档向量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企业微信接入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会话存档API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获取微信催收记录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消息队列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RabbitMQ / Kafka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异步处理大量质检任务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RAG框架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LangChain / LlamaIndex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知识检索增强生成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0" b="1">
                <a:solidFill>
                  <a:srgbClr val="0D1F4E"/>
                </a:solidFill>
                <a:latin typeface="Arial Black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383280"/>
            <a:ext cx="32004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6952" y="3383280"/>
            <a:ext cx="32004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YaHei"/>
              </a:rPr>
              <a:t>实施路线图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三阶段实施路线图（6个月）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5029200"/>
          </a:xfrm>
          <a:prstGeom prst="rect">
            <a:avLst/>
          </a:prstGeom>
          <a:solidFill>
            <a:srgbClr val="0B18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3657600" cy="4572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</a:rPr>
              <a:t>第一阶段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0698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1-2 个月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E5FF"/>
                </a:solidFill>
                <a:latin typeface="Microsoft YaHei"/>
              </a:rPr>
              <a:t>基础建设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Microsoft YaHei"/>
              </a:rPr>
              <a:t>  搭建统一数据接入层（语音ASR、文字、微信存档）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036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Microsoft YaHei"/>
              </a:rPr>
              <a:t>  构建规则引擎（关键词库、时间规则、频次规则）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4904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Microsoft YaHei"/>
              </a:rPr>
              <a:t>  搭建合规知识库（文档收集整理、向量化入库）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1772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Microsoft YaHei"/>
              </a:rPr>
              <a:t>  制度答疑官MVP上线（基础RAG问答）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4528" y="1005840"/>
            <a:ext cx="3657600" cy="5029200"/>
          </a:xfrm>
          <a:prstGeom prst="rect">
            <a:avLst/>
          </a:prstGeom>
          <a:solidFill>
            <a:srgbClr val="0B183A"/>
          </a:solidFill>
          <a:ln w="2540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24528" y="1005840"/>
            <a:ext cx="3657600" cy="4572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10515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</a:rPr>
              <a:t>第二阶段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10698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2-4 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BFF"/>
                </a:solidFill>
                <a:latin typeface="Microsoft YaHei"/>
              </a:rPr>
              <a:t>模型优化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201168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Microsoft YaHei"/>
              </a:rPr>
              <a:t>  用历史质检数据训练NLP分类模型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288036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Microsoft YaHei"/>
              </a:rPr>
              <a:t>  智能质检官三层引擎上线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374904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Microsoft YaHei"/>
              </a:rPr>
              <a:t>  与制度答疑官打通联动（违规→自动推送）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461772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Microsoft YaHei"/>
              </a:rPr>
              <a:t>  准确率优化迭代至75%+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3296" y="1005840"/>
            <a:ext cx="3657600" cy="5029200"/>
          </a:xfrm>
          <a:prstGeom prst="rect">
            <a:avLst/>
          </a:prstGeom>
          <a:solidFill>
            <a:srgbClr val="0B183A"/>
          </a:solidFill>
          <a:ln w="254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3296" y="1005840"/>
            <a:ext cx="3657600" cy="4572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10515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</a:rPr>
              <a:t>第三阶段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60736" y="106984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Microsoft YaHei"/>
              </a:rPr>
              <a:t>4-6 个月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1508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B2FFF"/>
                </a:solidFill>
                <a:latin typeface="Microsoft YaHei"/>
              </a:rPr>
              <a:t>深化运营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201168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Microsoft YaHei"/>
              </a:rPr>
              <a:t>  LLM灰色地带推理能力上线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6" y="288036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Microsoft YaHei"/>
              </a:rPr>
              <a:t>  全渠道覆盖 + 实时质检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374904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Microsoft YaHei"/>
              </a:rPr>
              <a:t>  管理层合规态势大屏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4617720"/>
            <a:ext cx="3383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Microsoft YaHei"/>
              </a:rPr>
              <a:t>  准确率冲刺85%+，质检覆盖率90%+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09728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0" b="1">
                <a:solidFill>
                  <a:srgbClr val="0D1F4E"/>
                </a:solidFill>
                <a:latin typeface="Arial Black"/>
              </a:rP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3383280"/>
            <a:ext cx="3200400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6952" y="3383280"/>
            <a:ext cx="3200400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YaHei"/>
              </a:rPr>
              <a:t>预期收益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40080"/>
          </a:xfrm>
          <a:prstGeom prst="rect">
            <a:avLst/>
          </a:prstGeom>
          <a:solidFill>
            <a:srgbClr val="0B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91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FF"/>
                </a:solidFill>
                <a:latin typeface="Microsoft YaHei"/>
              </a:rPr>
              <a:t>预期收益总结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05840"/>
          <a:ext cx="11887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601200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预期效果</a:t>
                      </a:r>
                    </a:p>
                  </a:txBody>
                  <a:tcPr>
                    <a:solidFill>
                      <a:srgbClr val="008B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覆盖率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从仅语音 → 语音+文字+微信全渠道覆盖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准确率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从40% → 85%+（三层引擎协同）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人力释放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人工复核量减少60%以上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合规意识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员工违规后即时获得原因解读，知识随问随答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违规率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预计下降30-50%（知识透明化+即时反馈）</a:t>
                      </a:r>
                    </a:p>
                  </a:txBody>
                  <a:tcPr>
                    <a:solidFill>
                      <a:srgbClr val="0B183A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管理效率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B0C4DE"/>
                          </a:solidFill>
                          <a:latin typeface="Microsoft YaHei"/>
                        </a:rPr>
                        <a:t>质检报告自动生成，管理层实时掌握合规态势</a:t>
                      </a:r>
                    </a:p>
                  </a:txBody>
                  <a:tcPr>
                    <a:solidFill>
                      <a:srgbClr val="0E224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486400"/>
            <a:ext cx="3474720" cy="1097280"/>
          </a:xfrm>
          <a:prstGeom prst="rect">
            <a:avLst/>
          </a:prstGeom>
          <a:solidFill>
            <a:srgbClr val="0B183A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532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E5FF"/>
                </a:solidFill>
                <a:latin typeface="Microsoft YaHei"/>
              </a:rPr>
              <a:t>-60%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996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Microsoft YaHei"/>
              </a:rPr>
              <a:t>人工复核量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5486400"/>
            <a:ext cx="3474720" cy="1097280"/>
          </a:xfrm>
          <a:prstGeom prst="rect">
            <a:avLst/>
          </a:prstGeom>
          <a:solidFill>
            <a:srgbClr val="0B183A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5532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  <a:latin typeface="Microsoft YaHei"/>
              </a:rPr>
              <a:t>+45pp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61996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Microsoft YaHei"/>
              </a:rPr>
              <a:t>准确率提升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5486400"/>
            <a:ext cx="3474720" cy="1097280"/>
          </a:xfrm>
          <a:prstGeom prst="rect">
            <a:avLst/>
          </a:prstGeom>
          <a:solidFill>
            <a:srgbClr val="0B183A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5532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FF88"/>
                </a:solidFill>
                <a:latin typeface="Microsoft YaHei"/>
              </a:rPr>
              <a:t>-30~50%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61996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  <a:latin typeface="Microsoft YaHei"/>
              </a:rPr>
              <a:t>违规率下降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6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7AA8"/>
                </a:solidFill>
                <a:latin typeface="Microsoft YaHei"/>
              </a:rPr>
              <a:t>催收合规智能质检 · 双Agent协作方案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1672" y="66019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7AA8"/>
                </a:solidFill>
                <a:latin typeface="Microsoft YaHei"/>
              </a:rPr>
              <a:t>2025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0D1F4E"/>
                </a:solidFill>
                <a:latin typeface="Microsoft Ya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Microsoft YaHei"/>
              </a:rPr>
              <a:t>谢  谢！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520440"/>
            <a:ext cx="850392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E5FF"/>
                </a:solidFill>
                <a:latin typeface="Microsoft YaHei"/>
              </a:rPr>
              <a:t>催收合规智能质检  ·  双Agent协作方案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C4DE"/>
                </a:solidFill>
                <a:latin typeface="Microsoft YaHei"/>
              </a:rPr>
              <a:t>智能质检官 x 制度答疑官  ·  AI驱动合规管理新范式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D700"/>
                </a:solidFill>
                <a:latin typeface="Microsoft YaHei"/>
              </a:rPr>
              <a:t>让每一次催收，都合规有据可查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